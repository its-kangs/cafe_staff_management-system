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ora Bold" charset="1" panose="00000800000000000000"/>
      <p:regular r:id="rId17"/>
    </p:embeddedFont>
    <p:embeddedFont>
      <p:font typeface="Lora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57624" y="354175"/>
            <a:ext cx="5145288" cy="4789325"/>
          </a:xfrm>
          <a:custGeom>
            <a:avLst/>
            <a:gdLst/>
            <a:ahLst/>
            <a:cxnLst/>
            <a:rect r="r" b="b" t="t" l="l"/>
            <a:pathLst>
              <a:path h="4789325" w="5145288">
                <a:moveTo>
                  <a:pt x="0" y="0"/>
                </a:moveTo>
                <a:lnTo>
                  <a:pt x="5145288" y="0"/>
                </a:lnTo>
                <a:lnTo>
                  <a:pt x="5145288" y="4789325"/>
                </a:lnTo>
                <a:lnTo>
                  <a:pt x="0" y="4789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39988" y="4526616"/>
            <a:ext cx="1247636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STAFF SHIFT SCHEDULING AND MANAGEMENT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23872" y="6012298"/>
            <a:ext cx="12788503" cy="287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GROUP: CAFE</a:t>
            </a:r>
          </a:p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CMT109 - DATABASE SYSTEM END-SEMESTER PROJECT</a:t>
            </a:r>
          </a:p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CATHOLIC UNIVERSITY OF EASTERN AFRICA</a:t>
            </a:r>
          </a:p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NAME: CECILIA ADOL(1068203) AND ANITA KANGETHE(1068202)</a:t>
            </a:r>
          </a:p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DATE: 12/12/2025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7540" y="1173392"/>
            <a:ext cx="10250061" cy="123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0"/>
              </a:lnSpc>
              <a:spcBef>
                <a:spcPct val="0"/>
              </a:spcBef>
            </a:pPr>
            <a:r>
              <a:rPr lang="en-US" b="true" sz="715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9224" y="2743973"/>
            <a:ext cx="14839065" cy="53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</a:p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b="true" sz="2744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1.1 PROBLEM DESCRIPTION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274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project addresses the challenges of manual staff scheduling   in an organization (e.g., a café or small business). Manual processes often lead to scheduling conflicts, difficulty calculating payroll hours, and a lack of centralized staff management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274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.</a:t>
            </a:r>
          </a:p>
          <a:p>
            <a:pPr algn="l">
              <a:lnSpc>
                <a:spcPts val="3842"/>
              </a:lnSpc>
              <a:spcBef>
                <a:spcPct val="0"/>
              </a:spcBef>
            </a:pPr>
            <a:r>
              <a:rPr lang="en-US" b="true" sz="2744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1.2 PROPOSED SOLUTION</a:t>
            </a:r>
          </a:p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274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solution is a web-based system utilizing a MySQL database for data persistence and PHP/MySQLi for the front-end interface. The system centralizes staff details, shift definitions, and schedule assignments, ensuring data integrity and enabling automated reporting.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3490399" y="4387416"/>
          <a:ext cx="5657850" cy="3143250"/>
        </p:xfrm>
        <a:graphic>
          <a:graphicData uri="http://schemas.openxmlformats.org/presentationml/2006/ole">
            <p:oleObj imgW="6781800" imgH="4267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870234" y="1297845"/>
            <a:ext cx="918914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DATABASE DESIGN AND 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9789" y="2385138"/>
            <a:ext cx="1467146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database, cafe_staff_management_db, is modeled using four main tables to capture the essential entities and relationships.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0234" y="3624402"/>
            <a:ext cx="42650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CONCEPTUAL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03177" y="1912318"/>
            <a:ext cx="10894424" cy="7553665"/>
          </a:xfrm>
          <a:custGeom>
            <a:avLst/>
            <a:gdLst/>
            <a:ahLst/>
            <a:cxnLst/>
            <a:rect r="r" b="b" t="t" l="l"/>
            <a:pathLst>
              <a:path h="7553665" w="10894424">
                <a:moveTo>
                  <a:pt x="0" y="0"/>
                </a:moveTo>
                <a:lnTo>
                  <a:pt x="10894424" y="0"/>
                </a:lnTo>
                <a:lnTo>
                  <a:pt x="10894424" y="7553665"/>
                </a:lnTo>
                <a:lnTo>
                  <a:pt x="0" y="7553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23777" y="952500"/>
            <a:ext cx="769530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CHEN NOTATION ER 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90399" y="2046714"/>
            <a:ext cx="10671525" cy="7911792"/>
          </a:xfrm>
          <a:custGeom>
            <a:avLst/>
            <a:gdLst/>
            <a:ahLst/>
            <a:cxnLst/>
            <a:rect r="r" b="b" t="t" l="l"/>
            <a:pathLst>
              <a:path h="7911792" w="10671525">
                <a:moveTo>
                  <a:pt x="0" y="0"/>
                </a:moveTo>
                <a:lnTo>
                  <a:pt x="10671525" y="0"/>
                </a:lnTo>
                <a:lnTo>
                  <a:pt x="10671525" y="7911792"/>
                </a:lnTo>
                <a:lnTo>
                  <a:pt x="0" y="79117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366" r="0" b="-1236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4945" y="952500"/>
            <a:ext cx="774203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CROW’S FOOT NOTATION ERD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85859" y="650875"/>
            <a:ext cx="866169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SAMPLE SQL CODE (DDL, DML)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4396" y="2120262"/>
            <a:ext cx="637490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INITIAL DATA POPULATION (DML)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429" y="2120262"/>
            <a:ext cx="70066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(DATA DEFINITION LANGUAGE - DDL)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1320" y="3358512"/>
            <a:ext cx="8142495" cy="654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CREATE TABLE STAFF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(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STAFF_ID INTEGER  AUTO_INCREMENT PRIMARY KEY,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FIRST_NAME  VARCHAR (50) NOT NULL,     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LAST_NAME  VARCHAR (50) NOT NULL,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PHONE  VARCHAR (20) NOT NULL,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HIRE_DATE TEXT NOT NULL,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ROLE_ID INTEGER NOT NULL,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IS_ACTIVE INTEGER DEFAULT 1,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USERNAME TEXT UNIQUE NOT NULL,        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PASSWORD TEXT NOT NULL,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FOREIGN KEY (ROLE_ID) REFERENCES ROLES (ROLE_ID)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);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5037" y="3525023"/>
            <a:ext cx="6035446" cy="347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#INSERT INTO TABLE SHIFTS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INSERT INTO SHIFTS (SHIFT_ID, SHIFT_NAME, START_TIME, END_TIME, SHIFT_HOURS)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VALUES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(1, 'MORNING', '06:00:00', '14:00:00', 8.0),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(2, 'MID-DAY', '10:00:00', '18:00:00', 8.0),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(3, 'CLOSING', '14:00:00', '22:00:00', 8.0);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77730" y="808394"/>
            <a:ext cx="873254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VIEWS AND STORED PROCEDURES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0108" y="2001023"/>
            <a:ext cx="689868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VIEWS SIMPLIFY COMMON QUERIES USED FOR DASHBOARDS AND REPORTS.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231474"/>
            <a:ext cx="706546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UPCOMING_WEEKLY_SCHEDULE: SHOWS SHIFTS SCHEDULED FOR THE NEXT SEVEN DAYS.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237949"/>
            <a:ext cx="5524061" cy="48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//VIEW CREATION: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UPCOMING_WEEKLY_SCHEDULE AS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SELECT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SC.SCHEDULE_DATE, S.FIRST_NAME, S.LAST_NAME, SH.SHIFT_NAME, SH.START_TIME, SH.END_TIME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FROM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SCHEDULES SC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JOIN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STAFF S ON SC.STAFF_ID = S.STAFF_ID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JOIN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SHIFTS SH ON SC.SHIFT_ID = SH.SHIFT_ID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WHERE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SC.SCHEDULE_DATE BETWEEN CURDATE() AND DATE_ADD(CURDATE(), INTERVAL 7 DAY)</a:t>
            </a:r>
          </a:p>
          <a:p>
            <a:pPr algn="ctr">
              <a:lnSpc>
                <a:spcPts val="2426"/>
              </a:lnSpc>
              <a:spcBef>
                <a:spcPct val="0"/>
              </a:spcBef>
            </a:pPr>
            <a:r>
              <a:rPr lang="en-US" b="true" sz="173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ORDER BY SC.SCHEDULE_DATE, SH.START_TIME;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4813" y="1868844"/>
            <a:ext cx="773353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STORED PROCEDURES (SPS) ENFORCE KEY BUSINESS RULES AND AUTOMATE COMPLEX CALCULATIONS.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0895" y="3231474"/>
            <a:ext cx="779745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SP_ASSIGNSTAFFSHIFT: HANDLES THE ENTIRE PROCESS OF SCHEDULING A STAFF MEMBER FOR A SPECIFIC SHIFT ON A DATE.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52854" y="5021958"/>
            <a:ext cx="7797450" cy="332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//STORED PROCEDURES: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CREATE DEFINER=`ROOT`@`LOCALHOST` PROCEDURE `SP_ASSIGNSTAFFSHIFT`(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IN P_STAFF_ID INT,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IN P_SHIFT_ID INT,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IN P_SCHEDULE_DATE DATE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)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BEGIN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INSERT INTO SCHEDULES (STAFF_ID, SHIFT_ID, SCHEDULE_DATE)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VALUES (P_STAFF_ID, P_SHIFT_ID, P_SCHEDULE_DATE);</a:t>
            </a:r>
          </a:p>
          <a:p>
            <a:pPr algn="ctr">
              <a:lnSpc>
                <a:spcPts val="2388"/>
              </a:lnSpc>
              <a:spcBef>
                <a:spcPct val="0"/>
              </a:spcBef>
            </a:pPr>
            <a:r>
              <a:rPr lang="en-US" b="true" sz="170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27288" y="650875"/>
            <a:ext cx="785832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WEB INTERFACE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8471" y="1738513"/>
            <a:ext cx="14803592" cy="714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  <a:spcBef>
                <a:spcPct val="0"/>
              </a:spcBef>
            </a:pPr>
            <a:r>
              <a:rPr lang="en-US" b="true" sz="312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Three-Tier Architecture 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Frontend (HTML/CSS): User-friendly forms for staff registration and shift assignments.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Backend (PHP): Processes requests and communicates with the MySQL database using secure methods.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Database (MySQL): Stores all schedules, staff details, and shift durations.</a:t>
            </a:r>
          </a:p>
          <a:p>
            <a:pPr algn="l">
              <a:lnSpc>
                <a:spcPts val="4377"/>
              </a:lnSpc>
              <a:spcBef>
                <a:spcPct val="0"/>
              </a:spcBef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b="true" sz="3126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Core Functional Modules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Admin Dashboard: Centralized view to manage the employee roster and organize shifts.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Staff Portal: Secure registration and real-time viewing of upcoming schedules.</a:t>
            </a:r>
          </a:p>
          <a:p>
            <a:pPr algn="l" marL="675080" indent="-337540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Automated Workflow: Forms (like mark_attendance.html) send POST requests to PHP scripts, which update the database instantly.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546" y="1374045"/>
            <a:ext cx="8350389" cy="4995388"/>
          </a:xfrm>
          <a:custGeom>
            <a:avLst/>
            <a:gdLst/>
            <a:ahLst/>
            <a:cxnLst/>
            <a:rect r="r" b="b" t="t" l="l"/>
            <a:pathLst>
              <a:path h="4995388" w="8350389">
                <a:moveTo>
                  <a:pt x="0" y="0"/>
                </a:moveTo>
                <a:lnTo>
                  <a:pt x="8350389" y="0"/>
                </a:lnTo>
                <a:lnTo>
                  <a:pt x="8350389" y="4995388"/>
                </a:lnTo>
                <a:lnTo>
                  <a:pt x="0" y="49953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4119141"/>
            <a:ext cx="8824255" cy="4961703"/>
          </a:xfrm>
          <a:custGeom>
            <a:avLst/>
            <a:gdLst/>
            <a:ahLst/>
            <a:cxnLst/>
            <a:rect r="r" b="b" t="t" l="l"/>
            <a:pathLst>
              <a:path h="4961703" w="8824255">
                <a:moveTo>
                  <a:pt x="0" y="0"/>
                </a:moveTo>
                <a:lnTo>
                  <a:pt x="8824255" y="0"/>
                </a:lnTo>
                <a:lnTo>
                  <a:pt x="8824255" y="4961703"/>
                </a:lnTo>
                <a:lnTo>
                  <a:pt x="0" y="49617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745" y="371493"/>
            <a:ext cx="125203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STAFF AND ADMIN  DASHBOARD WED INTERFACE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89268" y="1781444"/>
            <a:ext cx="13232784" cy="121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  <a:spcBef>
                <a:spcPct val="0"/>
              </a:spcBef>
            </a:pPr>
            <a:r>
              <a:rPr lang="en-US" b="true" sz="234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Challenge</a:t>
            </a:r>
            <a:r>
              <a:rPr lang="en-US" sz="234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Foreign Key constraints prevented deleting staff members.</a:t>
            </a:r>
          </a:p>
          <a:p>
            <a:pPr algn="l">
              <a:lnSpc>
                <a:spcPts val="3279"/>
              </a:lnSpc>
              <a:spcBef>
                <a:spcPct val="0"/>
              </a:spcBef>
            </a:pPr>
            <a:r>
              <a:rPr lang="en-US" b="true" sz="234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Solution</a:t>
            </a:r>
            <a:r>
              <a:rPr lang="en-US" sz="234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: Implemented SET FOREIGN_KEY_CHECKS = 0 for maintenance and ensured "orphan" schedules were cleaned up.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65924" y="349250"/>
            <a:ext cx="788044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CHALLENGES &amp; SOLUTIONS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9268" y="3435910"/>
            <a:ext cx="765473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CONCLUSION &amp; SYSTEM BENEFITS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9268" y="4607485"/>
            <a:ext cx="15770032" cy="203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  <a:spcBef>
                <a:spcPct val="0"/>
              </a:spcBef>
            </a:pPr>
            <a:r>
              <a:rPr lang="en-US" sz="287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Staff Shift Scheduling and Management System successfully replaces manual cafe logs with a secure, automated database solution. By integrating MySQL, PHP, and a Web Interface, the system ensures structural integrity through proper data relationships and provides real-time oversight for cafe managers.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9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2999" y="7693559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0" y="0"/>
                </a:moveTo>
                <a:lnTo>
                  <a:pt x="4923398" y="0"/>
                </a:lnTo>
                <a:lnTo>
                  <a:pt x="4923398" y="3544847"/>
                </a:lnTo>
                <a:lnTo>
                  <a:pt x="0" y="354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97601" y="-743723"/>
            <a:ext cx="4923398" cy="3544847"/>
          </a:xfrm>
          <a:custGeom>
            <a:avLst/>
            <a:gdLst/>
            <a:ahLst/>
            <a:cxnLst/>
            <a:rect r="r" b="b" t="t" l="l"/>
            <a:pathLst>
              <a:path h="3544847" w="4923398">
                <a:moveTo>
                  <a:pt x="4923398" y="3544846"/>
                </a:moveTo>
                <a:lnTo>
                  <a:pt x="0" y="3544846"/>
                </a:lnTo>
                <a:lnTo>
                  <a:pt x="0" y="0"/>
                </a:lnTo>
                <a:lnTo>
                  <a:pt x="4923398" y="0"/>
                </a:lnTo>
                <a:lnTo>
                  <a:pt x="4923398" y="35448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38259" y="8442759"/>
            <a:ext cx="4057330" cy="3688482"/>
          </a:xfrm>
          <a:custGeom>
            <a:avLst/>
            <a:gdLst/>
            <a:ahLst/>
            <a:cxnLst/>
            <a:rect r="r" b="b" t="t" l="l"/>
            <a:pathLst>
              <a:path h="3688482" w="4057330">
                <a:moveTo>
                  <a:pt x="0" y="0"/>
                </a:moveTo>
                <a:lnTo>
                  <a:pt x="4057331" y="0"/>
                </a:lnTo>
                <a:lnTo>
                  <a:pt x="4057331" y="3688482"/>
                </a:lnTo>
                <a:lnTo>
                  <a:pt x="0" y="36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893605" y="-1510626"/>
            <a:ext cx="4308302" cy="3916638"/>
          </a:xfrm>
          <a:custGeom>
            <a:avLst/>
            <a:gdLst/>
            <a:ahLst/>
            <a:cxnLst/>
            <a:rect r="r" b="b" t="t" l="l"/>
            <a:pathLst>
              <a:path h="3916638" w="4308302">
                <a:moveTo>
                  <a:pt x="4308302" y="3916638"/>
                </a:moveTo>
                <a:lnTo>
                  <a:pt x="0" y="3916638"/>
                </a:lnTo>
                <a:lnTo>
                  <a:pt x="0" y="0"/>
                </a:lnTo>
                <a:lnTo>
                  <a:pt x="4308302" y="0"/>
                </a:lnTo>
                <a:lnTo>
                  <a:pt x="4308302" y="39166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5400000">
            <a:off x="17099921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3421223" y="0"/>
                </a:moveTo>
                <a:lnTo>
                  <a:pt x="0" y="0"/>
                </a:lnTo>
                <a:lnTo>
                  <a:pt x="0" y="2687216"/>
                </a:lnTo>
                <a:lnTo>
                  <a:pt x="3421223" y="2687216"/>
                </a:lnTo>
                <a:lnTo>
                  <a:pt x="34212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-2260609" y="3799892"/>
            <a:ext cx="3421224" cy="2687216"/>
          </a:xfrm>
          <a:custGeom>
            <a:avLst/>
            <a:gdLst/>
            <a:ahLst/>
            <a:cxnLst/>
            <a:rect r="r" b="b" t="t" l="l"/>
            <a:pathLst>
              <a:path h="2687216" w="3421224">
                <a:moveTo>
                  <a:pt x="0" y="2687216"/>
                </a:moveTo>
                <a:lnTo>
                  <a:pt x="3421224" y="2687216"/>
                </a:lnTo>
                <a:lnTo>
                  <a:pt x="3421224" y="0"/>
                </a:lnTo>
                <a:lnTo>
                  <a:pt x="0" y="0"/>
                </a:lnTo>
                <a:lnTo>
                  <a:pt x="0" y="268721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66718" y="2948937"/>
            <a:ext cx="10354563" cy="396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29"/>
              </a:lnSpc>
            </a:pPr>
            <a:r>
              <a:rPr lang="en-US" b="true" sz="17160">
                <a:solidFill>
                  <a:srgbClr val="593A1E"/>
                </a:solidFill>
                <a:latin typeface="Lora Bold"/>
                <a:ea typeface="Lora Bold"/>
                <a:cs typeface="Lora Bold"/>
                <a:sym typeface="Lora Bold"/>
              </a:rPr>
              <a:t>THANK</a:t>
            </a:r>
          </a:p>
          <a:p>
            <a:pPr algn="ctr">
              <a:lnSpc>
                <a:spcPts val="14929"/>
              </a:lnSpc>
            </a:pPr>
            <a:r>
              <a:rPr lang="en-US" sz="17160" b="true">
                <a:solidFill>
                  <a:srgbClr val="593A1E"/>
                </a:solidFill>
                <a:latin typeface="Lora Bold"/>
                <a:ea typeface="Lora Bold"/>
                <a:cs typeface="Lora Bold"/>
                <a:sym typeface="Lora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DAG8OIHn7i0</dc:identifier>
  <dcterms:modified xsi:type="dcterms:W3CDTF">2011-08-01T06:04:30Z</dcterms:modified>
  <cp:revision>1</cp:revision>
  <dc:title>Brown Minimalist Abstract Group Project Presentation</dc:title>
</cp:coreProperties>
</file>